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7"/>
  </p:notesMasterIdLst>
  <p:sldIdLst>
    <p:sldId id="256" r:id="rId2"/>
    <p:sldId id="309" r:id="rId3"/>
    <p:sldId id="334" r:id="rId4"/>
    <p:sldId id="342" r:id="rId5"/>
    <p:sldId id="335" r:id="rId6"/>
    <p:sldId id="340" r:id="rId7"/>
    <p:sldId id="341" r:id="rId8"/>
    <p:sldId id="336" r:id="rId9"/>
    <p:sldId id="337" r:id="rId10"/>
    <p:sldId id="338" r:id="rId11"/>
    <p:sldId id="324" r:id="rId12"/>
    <p:sldId id="329" r:id="rId13"/>
    <p:sldId id="339" r:id="rId14"/>
    <p:sldId id="330" r:id="rId15"/>
    <p:sldId id="333" r:id="rId16"/>
  </p:sldIdLst>
  <p:sldSz cx="9144000" cy="5143500" type="screen16x9"/>
  <p:notesSz cx="6858000" cy="9144000"/>
  <p:defaultTextStyle>
    <a:defPPr>
      <a:defRPr lang="zh-CN"/>
    </a:defPPr>
    <a:lvl1pPr algn="l" rtl="0" eaLnBrk="0" fontAlgn="base" hangingPunct="0">
      <a:lnSpc>
        <a:spcPct val="90000"/>
      </a:lnSpc>
      <a:spcBef>
        <a:spcPct val="20000"/>
      </a:spcBef>
      <a:spcAft>
        <a:spcPct val="0"/>
      </a:spcAft>
      <a:buClr>
        <a:srgbClr val="660066"/>
      </a:buClr>
      <a:buSzPct val="100000"/>
      <a:buFont typeface="Wingdings" pitchFamily="2" charset="2"/>
      <a:defRPr sz="2200" b="1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1pPr>
    <a:lvl2pPr marL="457200" algn="l" rtl="0" eaLnBrk="0" fontAlgn="base" hangingPunct="0">
      <a:lnSpc>
        <a:spcPct val="90000"/>
      </a:lnSpc>
      <a:spcBef>
        <a:spcPct val="20000"/>
      </a:spcBef>
      <a:spcAft>
        <a:spcPct val="0"/>
      </a:spcAft>
      <a:buClr>
        <a:srgbClr val="660066"/>
      </a:buClr>
      <a:buSzPct val="100000"/>
      <a:buFont typeface="Wingdings" pitchFamily="2" charset="2"/>
      <a:defRPr sz="2200" b="1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2pPr>
    <a:lvl3pPr marL="914400" algn="l" rtl="0" eaLnBrk="0" fontAlgn="base" hangingPunct="0">
      <a:lnSpc>
        <a:spcPct val="90000"/>
      </a:lnSpc>
      <a:spcBef>
        <a:spcPct val="20000"/>
      </a:spcBef>
      <a:spcAft>
        <a:spcPct val="0"/>
      </a:spcAft>
      <a:buClr>
        <a:srgbClr val="660066"/>
      </a:buClr>
      <a:buSzPct val="100000"/>
      <a:buFont typeface="Wingdings" pitchFamily="2" charset="2"/>
      <a:defRPr sz="2200" b="1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3pPr>
    <a:lvl4pPr marL="1371600" algn="l" rtl="0" eaLnBrk="0" fontAlgn="base" hangingPunct="0">
      <a:lnSpc>
        <a:spcPct val="90000"/>
      </a:lnSpc>
      <a:spcBef>
        <a:spcPct val="20000"/>
      </a:spcBef>
      <a:spcAft>
        <a:spcPct val="0"/>
      </a:spcAft>
      <a:buClr>
        <a:srgbClr val="660066"/>
      </a:buClr>
      <a:buSzPct val="100000"/>
      <a:buFont typeface="Wingdings" pitchFamily="2" charset="2"/>
      <a:defRPr sz="2200" b="1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4pPr>
    <a:lvl5pPr marL="1828800" algn="l" rtl="0" eaLnBrk="0" fontAlgn="base" hangingPunct="0">
      <a:lnSpc>
        <a:spcPct val="90000"/>
      </a:lnSpc>
      <a:spcBef>
        <a:spcPct val="20000"/>
      </a:spcBef>
      <a:spcAft>
        <a:spcPct val="0"/>
      </a:spcAft>
      <a:buClr>
        <a:srgbClr val="660066"/>
      </a:buClr>
      <a:buSzPct val="100000"/>
      <a:buFont typeface="Wingdings" pitchFamily="2" charset="2"/>
      <a:defRPr sz="2200" b="1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5pPr>
    <a:lvl6pPr marL="2286000" algn="l" defTabSz="914400" rtl="0" eaLnBrk="1" latinLnBrk="0" hangingPunct="1">
      <a:defRPr sz="2200" b="1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6pPr>
    <a:lvl7pPr marL="2743200" algn="l" defTabSz="914400" rtl="0" eaLnBrk="1" latinLnBrk="0" hangingPunct="1">
      <a:defRPr sz="2200" b="1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7pPr>
    <a:lvl8pPr marL="3200400" algn="l" defTabSz="914400" rtl="0" eaLnBrk="1" latinLnBrk="0" hangingPunct="1">
      <a:defRPr sz="2200" b="1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8pPr>
    <a:lvl9pPr marL="3657600" algn="l" defTabSz="914400" rtl="0" eaLnBrk="1" latinLnBrk="0" hangingPunct="1">
      <a:defRPr sz="2200" b="1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A"/>
    <a:srgbClr val="A50021"/>
    <a:srgbClr val="B9B9D5"/>
    <a:srgbClr val="000066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32" autoAdjust="0"/>
    <p:restoredTop sz="94255" autoAdjust="0"/>
  </p:normalViewPr>
  <p:slideViewPr>
    <p:cSldViewPr>
      <p:cViewPr varScale="1">
        <p:scale>
          <a:sx n="150" d="100"/>
          <a:sy n="150" d="100"/>
        </p:scale>
        <p:origin x="198" y="11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Arial" charset="0"/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Arial" charset="0"/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Arial" charset="0"/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Arial" charset="0"/>
                <a:ea typeface="宋体" pitchFamily="2" charset="-122"/>
              </a:defRPr>
            </a:lvl1pPr>
          </a:lstStyle>
          <a:p>
            <a:fld id="{499E742A-EA72-413C-9891-4DAABA6BC4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4999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379302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4306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8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784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50875" y="810817"/>
            <a:ext cx="4102100" cy="37921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05375" y="810817"/>
            <a:ext cx="4102100" cy="37921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329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15133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1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3" y="115133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80705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73810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62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19" y="20479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69" y="204810"/>
            <a:ext cx="5111751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1168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4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2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66477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36463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18332" y="73819"/>
            <a:ext cx="2089151" cy="45291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50884" y="73819"/>
            <a:ext cx="6115051" cy="45291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22895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9031" y="73839"/>
            <a:ext cx="7761287" cy="56792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50875" y="810817"/>
            <a:ext cx="4102100" cy="379214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05375" y="810817"/>
            <a:ext cx="4102100" cy="379214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60013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9031" y="73832"/>
            <a:ext cx="7761287" cy="56792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50875" y="810817"/>
            <a:ext cx="8356600" cy="379214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4767264"/>
            <a:ext cx="2743200" cy="273844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  <a:pPr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4767264"/>
            <a:ext cx="41148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4767264"/>
            <a:ext cx="2743200" cy="273844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197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89026" y="73829"/>
            <a:ext cx="7761287" cy="5679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 </a:t>
            </a:r>
            <a:endParaRPr lang="zh-CN" altLang="zh-CN" dirty="0"/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4876801" y="4781550"/>
            <a:ext cx="3009900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GB" sz="1200" dirty="0"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GB" altLang="zh-CN" sz="1200" dirty="0">
                <a:latin typeface="微软雅黑" pitchFamily="34" charset="-122"/>
                <a:ea typeface="微软雅黑" pitchFamily="34" charset="-122"/>
              </a:rPr>
              <a:t>15</a:t>
            </a:r>
            <a:r>
              <a:rPr lang="zh-CN" altLang="en-GB" sz="1200" dirty="0">
                <a:latin typeface="微软雅黑" pitchFamily="34" charset="-122"/>
                <a:ea typeface="微软雅黑" pitchFamily="34" charset="-122"/>
              </a:rPr>
              <a:t>章  </a:t>
            </a:r>
            <a:r>
              <a:rPr lang="en-US" altLang="zh-CN" sz="1200" dirty="0"/>
              <a:t>JavaScript</a:t>
            </a:r>
            <a:r>
              <a:rPr lang="zh-CN" altLang="en-US" sz="1200" dirty="0"/>
              <a:t>事件分析</a:t>
            </a:r>
            <a:endParaRPr lang="zh-CN" altLang="en-GB" sz="12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7924800" y="4781550"/>
            <a:ext cx="1143000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1200" dirty="0">
                <a:latin typeface="Arial" charset="0"/>
                <a:ea typeface="宋体" pitchFamily="2" charset="-122"/>
              </a:rPr>
              <a:t>Page:   </a:t>
            </a:r>
            <a:fld id="{8160BF45-1FD0-4327-9BF6-F81702477888}" type="slidenum">
              <a:rPr lang="en-GB" altLang="zh-CN" sz="1200">
                <a:latin typeface="Arial" charset="0"/>
                <a:ea typeface="宋体" pitchFamily="2" charset="-122"/>
              </a:rPr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‹#›</a:t>
            </a:fld>
            <a:endParaRPr lang="en-GB" altLang="zh-CN" sz="1200" i="1" dirty="0">
              <a:latin typeface="Arial" charset="0"/>
              <a:ea typeface="宋体" pitchFamily="2" charset="-122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819151"/>
            <a:ext cx="8356600" cy="381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 dirty="0"/>
              <a:t>Click to edit Master text styles</a:t>
            </a:r>
          </a:p>
          <a:p>
            <a:pPr lvl="1"/>
            <a:r>
              <a:rPr lang="en-GB" altLang="zh-CN" dirty="0"/>
              <a:t>Second level</a:t>
            </a:r>
          </a:p>
          <a:p>
            <a:pPr lvl="2"/>
            <a:r>
              <a:rPr lang="en-GB" altLang="zh-CN" dirty="0"/>
              <a:t>Third level</a:t>
            </a:r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11" y="0"/>
            <a:ext cx="515939" cy="5143500"/>
          </a:xfrm>
          <a:prstGeom prst="rect">
            <a:avLst/>
          </a:prstGeom>
          <a:solidFill>
            <a:srgbClr val="0000F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dirty="0">
              <a:ln>
                <a:solidFill>
                  <a:srgbClr val="00B0F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30730" name="Rectangle 10"/>
          <p:cNvSpPr>
            <a:spLocks noChangeArrowheads="1"/>
          </p:cNvSpPr>
          <p:nvPr userDrawn="1"/>
        </p:nvSpPr>
        <p:spPr bwMode="auto">
          <a:xfrm>
            <a:off x="609600" y="4781563"/>
            <a:ext cx="3962400" cy="3206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>
              <a:lnSpc>
                <a:spcPts val="18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0000FA"/>
                </a:solidFill>
                <a:latin typeface="微软雅黑" pitchFamily="34" charset="-122"/>
                <a:ea typeface="微软雅黑" pitchFamily="34" charset="-122"/>
              </a:rPr>
              <a:t>教育部高等学校软件工程专业教学指导委员会</a:t>
            </a:r>
            <a:r>
              <a:rPr lang="zh-CN" altLang="en-US" sz="1200" b="1" dirty="0">
                <a:solidFill>
                  <a:srgbClr val="0000FA"/>
                </a:solidFill>
                <a:latin typeface="微软雅黑" pitchFamily="34" charset="-122"/>
                <a:ea typeface="微软雅黑" pitchFamily="34" charset="-122"/>
              </a:rPr>
              <a:t>规划</a:t>
            </a:r>
            <a:r>
              <a:rPr lang="zh-CN" altLang="en-US" sz="1200" dirty="0">
                <a:solidFill>
                  <a:srgbClr val="0000FA"/>
                </a:solidFill>
                <a:latin typeface="微软雅黑" pitchFamily="34" charset="-122"/>
                <a:ea typeface="微软雅黑" pitchFamily="34" charset="-122"/>
              </a:rPr>
              <a:t>教材</a:t>
            </a:r>
            <a:r>
              <a:rPr lang="zh-CN" altLang="en-US" sz="2000" baseline="0" dirty="0">
                <a:solidFill>
                  <a:srgbClr val="0000FA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GB" sz="2000" dirty="0">
              <a:solidFill>
                <a:srgbClr val="0000F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 userDrawn="1"/>
        </p:nvSpPr>
        <p:spPr bwMode="auto">
          <a:xfrm rot="16200000">
            <a:off x="-2112048" y="2444551"/>
            <a:ext cx="4745831" cy="31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altLang="en-US" sz="1600" b="0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</a:t>
            </a:r>
            <a:r>
              <a:rPr lang="zh-CN" altLang="en-US" sz="1600" b="0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前端开发技术</a:t>
            </a:r>
            <a:r>
              <a:rPr lang="en-US" altLang="zh-CN" sz="1600" b="0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-HTML</a:t>
            </a:r>
            <a:r>
              <a:rPr lang="en-US" altLang="zh-CN" sz="1600" b="0" i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1600" b="0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0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CSS</a:t>
            </a:r>
            <a:r>
              <a:rPr lang="en-US" altLang="zh-CN" sz="1600" b="0" i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600" b="0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、JavaScript</a:t>
            </a:r>
            <a:endParaRPr lang="zh-CN" altLang="en-US" sz="1600" b="0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0"/>
          <p:cNvGrpSpPr/>
          <p:nvPr userDrawn="1"/>
        </p:nvGrpSpPr>
        <p:grpSpPr>
          <a:xfrm>
            <a:off x="533400" y="742950"/>
            <a:ext cx="8534400" cy="76200"/>
            <a:chOff x="447412" y="813655"/>
            <a:chExt cx="12527557" cy="240392"/>
          </a:xfrm>
        </p:grpSpPr>
        <p:sp>
          <p:nvSpPr>
            <p:cNvPr id="13" name="任意多边形 12"/>
            <p:cNvSpPr/>
            <p:nvPr/>
          </p:nvSpPr>
          <p:spPr>
            <a:xfrm>
              <a:off x="447412" y="813655"/>
              <a:ext cx="8241392" cy="240392"/>
            </a:xfrm>
            <a:custGeom>
              <a:avLst/>
              <a:gdLst>
                <a:gd name="connsiteX0" fmla="*/ 8001001 w 8241393"/>
                <a:gd name="connsiteY0" fmla="*/ 0 h 240392"/>
                <a:gd name="connsiteX1" fmla="*/ 8241393 w 8241393"/>
                <a:gd name="connsiteY1" fmla="*/ 240392 h 240392"/>
                <a:gd name="connsiteX2" fmla="*/ 8001001 w 8241393"/>
                <a:gd name="connsiteY2" fmla="*/ 240392 h 240392"/>
                <a:gd name="connsiteX3" fmla="*/ 0 w 8241393"/>
                <a:gd name="connsiteY3" fmla="*/ 0 h 240392"/>
                <a:gd name="connsiteX4" fmla="*/ 8001000 w 8241393"/>
                <a:gd name="connsiteY4" fmla="*/ 0 h 240392"/>
                <a:gd name="connsiteX5" fmla="*/ 8001000 w 8241393"/>
                <a:gd name="connsiteY5" fmla="*/ 240392 h 240392"/>
                <a:gd name="connsiteX6" fmla="*/ 0 w 8241393"/>
                <a:gd name="connsiteY6" fmla="*/ 240392 h 24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41393" h="240392">
                  <a:moveTo>
                    <a:pt x="8001001" y="0"/>
                  </a:moveTo>
                  <a:lnTo>
                    <a:pt x="8241393" y="240392"/>
                  </a:lnTo>
                  <a:lnTo>
                    <a:pt x="8001001" y="240392"/>
                  </a:lnTo>
                  <a:close/>
                  <a:moveTo>
                    <a:pt x="0" y="0"/>
                  </a:moveTo>
                  <a:lnTo>
                    <a:pt x="8001000" y="0"/>
                  </a:lnTo>
                  <a:lnTo>
                    <a:pt x="8001000" y="240392"/>
                  </a:lnTo>
                  <a:lnTo>
                    <a:pt x="0" y="240392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8277135" y="813655"/>
              <a:ext cx="4697834" cy="240392"/>
            </a:xfrm>
            <a:custGeom>
              <a:avLst/>
              <a:gdLst>
                <a:gd name="connsiteX0" fmla="*/ 240393 w 4190999"/>
                <a:gd name="connsiteY0" fmla="*/ 0 h 240392"/>
                <a:gd name="connsiteX1" fmla="*/ 4190999 w 4190999"/>
                <a:gd name="connsiteY1" fmla="*/ 0 h 240392"/>
                <a:gd name="connsiteX2" fmla="*/ 4190999 w 4190999"/>
                <a:gd name="connsiteY2" fmla="*/ 240392 h 240392"/>
                <a:gd name="connsiteX3" fmla="*/ 240393 w 4190999"/>
                <a:gd name="connsiteY3" fmla="*/ 240392 h 240392"/>
                <a:gd name="connsiteX4" fmla="*/ 0 w 4190999"/>
                <a:gd name="connsiteY4" fmla="*/ 0 h 240392"/>
                <a:gd name="connsiteX5" fmla="*/ 240392 w 4190999"/>
                <a:gd name="connsiteY5" fmla="*/ 0 h 240392"/>
                <a:gd name="connsiteX6" fmla="*/ 240392 w 4190999"/>
                <a:gd name="connsiteY6" fmla="*/ 240392 h 24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90999" h="240392">
                  <a:moveTo>
                    <a:pt x="240393" y="0"/>
                  </a:moveTo>
                  <a:lnTo>
                    <a:pt x="4190999" y="0"/>
                  </a:lnTo>
                  <a:lnTo>
                    <a:pt x="4190999" y="240392"/>
                  </a:lnTo>
                  <a:lnTo>
                    <a:pt x="240393" y="240392"/>
                  </a:lnTo>
                  <a:close/>
                  <a:moveTo>
                    <a:pt x="0" y="0"/>
                  </a:moveTo>
                  <a:lnTo>
                    <a:pt x="240392" y="0"/>
                  </a:lnTo>
                  <a:lnTo>
                    <a:pt x="240392" y="240392"/>
                  </a:lnTo>
                  <a:close/>
                </a:path>
              </a:pathLst>
            </a:custGeom>
            <a:solidFill>
              <a:srgbClr val="96CA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15"/>
          <p:cNvGrpSpPr/>
          <p:nvPr userDrawn="1"/>
        </p:nvGrpSpPr>
        <p:grpSpPr>
          <a:xfrm flipV="1">
            <a:off x="533400" y="4705362"/>
            <a:ext cx="8534400" cy="45719"/>
            <a:chOff x="447412" y="813655"/>
            <a:chExt cx="12527557" cy="240392"/>
          </a:xfrm>
        </p:grpSpPr>
        <p:sp>
          <p:nvSpPr>
            <p:cNvPr id="17" name="任意多边形 16"/>
            <p:cNvSpPr/>
            <p:nvPr/>
          </p:nvSpPr>
          <p:spPr>
            <a:xfrm>
              <a:off x="447412" y="813655"/>
              <a:ext cx="8241392" cy="240392"/>
            </a:xfrm>
            <a:custGeom>
              <a:avLst/>
              <a:gdLst>
                <a:gd name="connsiteX0" fmla="*/ 8001001 w 8241393"/>
                <a:gd name="connsiteY0" fmla="*/ 0 h 240392"/>
                <a:gd name="connsiteX1" fmla="*/ 8241393 w 8241393"/>
                <a:gd name="connsiteY1" fmla="*/ 240392 h 240392"/>
                <a:gd name="connsiteX2" fmla="*/ 8001001 w 8241393"/>
                <a:gd name="connsiteY2" fmla="*/ 240392 h 240392"/>
                <a:gd name="connsiteX3" fmla="*/ 0 w 8241393"/>
                <a:gd name="connsiteY3" fmla="*/ 0 h 240392"/>
                <a:gd name="connsiteX4" fmla="*/ 8001000 w 8241393"/>
                <a:gd name="connsiteY4" fmla="*/ 0 h 240392"/>
                <a:gd name="connsiteX5" fmla="*/ 8001000 w 8241393"/>
                <a:gd name="connsiteY5" fmla="*/ 240392 h 240392"/>
                <a:gd name="connsiteX6" fmla="*/ 0 w 8241393"/>
                <a:gd name="connsiteY6" fmla="*/ 240392 h 24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41393" h="240392">
                  <a:moveTo>
                    <a:pt x="8001001" y="0"/>
                  </a:moveTo>
                  <a:lnTo>
                    <a:pt x="8241393" y="240392"/>
                  </a:lnTo>
                  <a:lnTo>
                    <a:pt x="8001001" y="240392"/>
                  </a:lnTo>
                  <a:close/>
                  <a:moveTo>
                    <a:pt x="0" y="0"/>
                  </a:moveTo>
                  <a:lnTo>
                    <a:pt x="8001000" y="0"/>
                  </a:lnTo>
                  <a:lnTo>
                    <a:pt x="8001000" y="240392"/>
                  </a:lnTo>
                  <a:lnTo>
                    <a:pt x="0" y="240392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8277135" y="813655"/>
              <a:ext cx="4697834" cy="240392"/>
            </a:xfrm>
            <a:custGeom>
              <a:avLst/>
              <a:gdLst>
                <a:gd name="connsiteX0" fmla="*/ 240393 w 4190999"/>
                <a:gd name="connsiteY0" fmla="*/ 0 h 240392"/>
                <a:gd name="connsiteX1" fmla="*/ 4190999 w 4190999"/>
                <a:gd name="connsiteY1" fmla="*/ 0 h 240392"/>
                <a:gd name="connsiteX2" fmla="*/ 4190999 w 4190999"/>
                <a:gd name="connsiteY2" fmla="*/ 240392 h 240392"/>
                <a:gd name="connsiteX3" fmla="*/ 240393 w 4190999"/>
                <a:gd name="connsiteY3" fmla="*/ 240392 h 240392"/>
                <a:gd name="connsiteX4" fmla="*/ 0 w 4190999"/>
                <a:gd name="connsiteY4" fmla="*/ 0 h 240392"/>
                <a:gd name="connsiteX5" fmla="*/ 240392 w 4190999"/>
                <a:gd name="connsiteY5" fmla="*/ 0 h 240392"/>
                <a:gd name="connsiteX6" fmla="*/ 240392 w 4190999"/>
                <a:gd name="connsiteY6" fmla="*/ 240392 h 24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90999" h="240392">
                  <a:moveTo>
                    <a:pt x="240393" y="0"/>
                  </a:moveTo>
                  <a:lnTo>
                    <a:pt x="4190999" y="0"/>
                  </a:lnTo>
                  <a:lnTo>
                    <a:pt x="4190999" y="240392"/>
                  </a:lnTo>
                  <a:lnTo>
                    <a:pt x="240393" y="240392"/>
                  </a:lnTo>
                  <a:close/>
                  <a:moveTo>
                    <a:pt x="0" y="0"/>
                  </a:moveTo>
                  <a:lnTo>
                    <a:pt x="240392" y="0"/>
                  </a:lnTo>
                  <a:lnTo>
                    <a:pt x="240392" y="240392"/>
                  </a:lnTo>
                  <a:close/>
                </a:path>
              </a:pathLst>
            </a:custGeom>
            <a:solidFill>
              <a:srgbClr val="96CA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2566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</p:sldLayoutIdLst>
  <p:txStyles>
    <p:titleStyle>
      <a:lvl1pPr algn="ctr" defTabSz="463550" rtl="0" eaLnBrk="0" fontAlgn="base" hangingPunct="0">
        <a:spcBef>
          <a:spcPct val="0"/>
        </a:spcBef>
        <a:spcAft>
          <a:spcPct val="0"/>
        </a:spcAft>
        <a:defRPr lang="zh-CN" altLang="zh-CN" sz="2800" b="1" dirty="0" smtClean="0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ctr" defTabSz="463550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黑体" pitchFamily="49" charset="-122"/>
          <a:ea typeface="黑体" pitchFamily="49" charset="-122"/>
        </a:defRPr>
      </a:lvl2pPr>
      <a:lvl3pPr algn="ctr" defTabSz="463550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黑体" pitchFamily="49" charset="-122"/>
          <a:ea typeface="黑体" pitchFamily="49" charset="-122"/>
        </a:defRPr>
      </a:lvl3pPr>
      <a:lvl4pPr algn="ctr" defTabSz="463550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黑体" pitchFamily="49" charset="-122"/>
          <a:ea typeface="黑体" pitchFamily="49" charset="-122"/>
        </a:defRPr>
      </a:lvl4pPr>
      <a:lvl5pPr algn="ctr" defTabSz="463550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黑体" pitchFamily="49" charset="-122"/>
          <a:ea typeface="黑体" pitchFamily="49" charset="-122"/>
        </a:defRPr>
      </a:lvl5pPr>
      <a:lvl6pPr marL="457200" algn="ctr" defTabSz="463550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黑体" pitchFamily="49" charset="-122"/>
          <a:ea typeface="黑体" pitchFamily="49" charset="-122"/>
        </a:defRPr>
      </a:lvl6pPr>
      <a:lvl7pPr marL="914400" algn="ctr" defTabSz="463550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黑体" pitchFamily="49" charset="-122"/>
          <a:ea typeface="黑体" pitchFamily="49" charset="-122"/>
        </a:defRPr>
      </a:lvl7pPr>
      <a:lvl8pPr marL="1371600" algn="ctr" defTabSz="463550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黑体" pitchFamily="49" charset="-122"/>
          <a:ea typeface="黑体" pitchFamily="49" charset="-122"/>
        </a:defRPr>
      </a:lvl8pPr>
      <a:lvl9pPr marL="1828800" algn="ctr" defTabSz="463550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黑体" pitchFamily="49" charset="-122"/>
          <a:ea typeface="黑体" pitchFamily="49" charset="-122"/>
        </a:defRPr>
      </a:lvl9pPr>
    </p:titleStyle>
    <p:bodyStyle>
      <a:lvl1pPr marL="182563" indent="-182563" algn="l" defTabSz="1158875" rtl="0" eaLnBrk="0" fontAlgn="base" hangingPunct="0">
        <a:spcBef>
          <a:spcPct val="30000"/>
        </a:spcBef>
        <a:spcAft>
          <a:spcPct val="20000"/>
        </a:spcAft>
        <a:buClr>
          <a:srgbClr val="0000CC"/>
        </a:buClr>
        <a:buSzPct val="100000"/>
        <a:buFont typeface="Wingdings" pitchFamily="2" charset="2"/>
        <a:buChar char="l"/>
        <a:defRPr lang="en-GB" altLang="zh-CN" sz="2200" b="0" dirty="0" smtClean="0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marL="533400" indent="-168275" algn="l" defTabSz="1158875" rtl="0" eaLnBrk="0" fontAlgn="base" hangingPunct="0">
        <a:spcBef>
          <a:spcPct val="20000"/>
        </a:spcBef>
        <a:spcAft>
          <a:spcPct val="0"/>
        </a:spcAft>
        <a:buClr>
          <a:srgbClr val="660066"/>
        </a:buClr>
        <a:buSzPct val="100000"/>
        <a:buFont typeface="Wingdings" pitchFamily="2" charset="2"/>
        <a:buChar char="n"/>
        <a:defRPr sz="2200" b="1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898525" indent="-182563" algn="l" defTabSz="1158875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SzPct val="100000"/>
        <a:buFont typeface="Wingdings" pitchFamily="2" charset="2"/>
        <a:buChar char="Ø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1636713" indent="-228600" algn="l" defTabSz="1158875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defTabSz="1158875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chemeClr val="tx1"/>
          </a:solidFill>
          <a:latin typeface="+mn-lt"/>
        </a:defRPr>
      </a:lvl5pPr>
      <a:lvl6pPr marL="2514600" indent="-228600" algn="l" defTabSz="1158875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6pPr>
      <a:lvl7pPr marL="2971800" indent="-228600" algn="l" defTabSz="1158875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7pPr>
      <a:lvl8pPr marL="3429000" indent="-228600" algn="l" defTabSz="1158875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8pPr>
      <a:lvl9pPr marL="3886200" indent="-228600" algn="l" defTabSz="1158875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57151"/>
            <a:ext cx="7543800" cy="573881"/>
          </a:xfrm>
        </p:spPr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15</a:t>
            </a:r>
            <a:r>
              <a:rPr lang="zh-CN" altLang="en-US" dirty="0"/>
              <a:t>章 </a:t>
            </a:r>
            <a:r>
              <a:rPr lang="en-US" altLang="zh-CN" dirty="0"/>
              <a:t>JavaScript </a:t>
            </a:r>
            <a:r>
              <a:rPr lang="en-US" altLang="zh-CN" dirty="0" err="1"/>
              <a:t>eXtension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本章学习目标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819151"/>
            <a:ext cx="8509000" cy="3810000"/>
          </a:xfrm>
        </p:spPr>
        <p:txBody>
          <a:bodyPr/>
          <a:lstStyle/>
          <a:p>
            <a:pPr marL="442913">
              <a:buNone/>
            </a:pPr>
            <a:r>
              <a:rPr lang="en-US" altLang="zh-CN" dirty="0"/>
              <a:t>Web </a:t>
            </a:r>
            <a:r>
              <a:rPr lang="zh-CN" altLang="en-US" dirty="0"/>
              <a:t>前端开发工程师应掌握以下内容：</a:t>
            </a:r>
            <a:endParaRPr lang="en-US" altLang="zh-CN" dirty="0">
              <a:latin typeface="+mj-ea"/>
              <a:ea typeface="+mj-ea"/>
            </a:endParaRPr>
          </a:p>
          <a:p>
            <a:pPr marL="719138" indent="0"/>
            <a:r>
              <a:rPr lang="en-US" altLang="zh-CN" dirty="0" smtClean="0">
                <a:latin typeface="+mj-ea"/>
                <a:ea typeface="+mj-ea"/>
              </a:rPr>
              <a:t>JavaScript</a:t>
            </a:r>
            <a:r>
              <a:rPr lang="zh-CN" altLang="en-US" dirty="0">
                <a:latin typeface="+mj-ea"/>
                <a:ea typeface="+mj-ea"/>
              </a:rPr>
              <a:t>回调函</a:t>
            </a:r>
            <a:r>
              <a:rPr lang="zh-CN" altLang="en-US" dirty="0" smtClean="0">
                <a:latin typeface="+mj-ea"/>
                <a:ea typeface="+mj-ea"/>
              </a:rPr>
              <a:t>数</a:t>
            </a:r>
            <a:endParaRPr lang="en-US" altLang="zh-CN" dirty="0" smtClean="0">
              <a:latin typeface="+mj-ea"/>
              <a:ea typeface="+mj-ea"/>
            </a:endParaRPr>
          </a:p>
          <a:p>
            <a:pPr marL="719138" indent="0"/>
            <a:r>
              <a:rPr lang="en-US" altLang="zh-CN" dirty="0" smtClean="0">
                <a:latin typeface="+mj-ea"/>
                <a:ea typeface="+mj-ea"/>
              </a:rPr>
              <a:t>JavaScript</a:t>
            </a:r>
            <a:r>
              <a:rPr lang="zh-CN" altLang="en-US" dirty="0" smtClean="0">
                <a:latin typeface="+mj-ea"/>
                <a:ea typeface="+mj-ea"/>
              </a:rPr>
              <a:t>作用域链               </a:t>
            </a:r>
            <a:endParaRPr lang="en-US" altLang="zh-CN" dirty="0" smtClean="0">
              <a:latin typeface="+mj-ea"/>
              <a:ea typeface="+mj-ea"/>
            </a:endParaRPr>
          </a:p>
          <a:p>
            <a:pPr marL="719138" indent="0"/>
            <a:r>
              <a:rPr lang="en-US" altLang="zh-CN" dirty="0" smtClean="0">
                <a:latin typeface="+mj-ea"/>
                <a:ea typeface="+mj-ea"/>
              </a:rPr>
              <a:t>JavaScript</a:t>
            </a:r>
            <a:r>
              <a:rPr lang="zh-CN" altLang="en-US" dirty="0" smtClean="0">
                <a:latin typeface="+mj-ea"/>
                <a:ea typeface="+mj-ea"/>
              </a:rPr>
              <a:t>闭包</a:t>
            </a:r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306CE-ED19-94B4-460E-0DA54C0ED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Callback-</a:t>
            </a:r>
            <a:r>
              <a:rPr lang="zh-CN" altLang="en-US" dirty="0" smtClean="0"/>
              <a:t>回调函数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FF168F-AC50-D7AB-BECD-723CB61B72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132"/>
          <a:stretch/>
        </p:blipFill>
        <p:spPr>
          <a:xfrm>
            <a:off x="609600" y="819150"/>
            <a:ext cx="3262229" cy="388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050C56-43F4-9D50-0327-70F38412C0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894"/>
          <a:stretch/>
        </p:blipFill>
        <p:spPr>
          <a:xfrm>
            <a:off x="4953000" y="819150"/>
            <a:ext cx="324886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099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B2515-2293-940A-8C4D-F47861854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Callback </a:t>
            </a:r>
            <a:r>
              <a:rPr lang="zh-CN" altLang="en-US" dirty="0" smtClean="0"/>
              <a:t>嵌套与地狱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132" y="819150"/>
            <a:ext cx="5013074" cy="392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9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B2515-2293-940A-8C4D-F47861854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Callback – </a:t>
            </a:r>
            <a:r>
              <a:rPr lang="en-US" altLang="ja-JP" dirty="0" smtClean="0"/>
              <a:t>Promise</a:t>
            </a:r>
            <a:r>
              <a:rPr lang="zh-CN" altLang="en-US" dirty="0" smtClean="0"/>
              <a:t>规范</a:t>
            </a:r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895350"/>
            <a:ext cx="5334489" cy="334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980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作用域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var</a:t>
            </a:r>
            <a:r>
              <a:rPr lang="en-US" altLang="zh-CN" dirty="0" smtClean="0"/>
              <a:t> let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zh-CN" dirty="0"/>
              <a:t>In JavaScript, </a:t>
            </a:r>
            <a:r>
              <a:rPr lang="en-US" altLang="zh-CN" b="1" dirty="0"/>
              <a:t>scope</a:t>
            </a:r>
            <a:r>
              <a:rPr lang="en-US" altLang="zh-CN" dirty="0"/>
              <a:t> defines where variables can be accessed. The main difference between </a:t>
            </a:r>
            <a:r>
              <a:rPr lang="en-US" altLang="zh-CN" i="1" dirty="0" err="1"/>
              <a:t>var</a:t>
            </a:r>
            <a:r>
              <a:rPr lang="en-US" altLang="zh-CN" dirty="0"/>
              <a:t> and </a:t>
            </a:r>
            <a:r>
              <a:rPr lang="en-US" altLang="zh-CN" i="1" dirty="0"/>
              <a:t>let</a:t>
            </a:r>
            <a:r>
              <a:rPr lang="en-US" altLang="zh-CN" dirty="0"/>
              <a:t> lies in how they handle scope and hoisting.</a:t>
            </a:r>
          </a:p>
          <a:p>
            <a:endParaRPr lang="zh-CN" altLang="en-US" dirty="0"/>
          </a:p>
        </p:txBody>
      </p:sp>
      <p:sp>
        <p:nvSpPr>
          <p:cNvPr id="5" name="文本占位符 2"/>
          <p:cNvSpPr txBox="1">
            <a:spLocks/>
          </p:cNvSpPr>
          <p:nvPr/>
        </p:nvSpPr>
        <p:spPr bwMode="auto">
          <a:xfrm>
            <a:off x="4648218" y="847914"/>
            <a:ext cx="4102100" cy="37921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defTabSz="1158875" rtl="0" eaLnBrk="0" fontAlgn="base" hangingPunct="0">
              <a:spcBef>
                <a:spcPct val="30000"/>
              </a:spcBef>
              <a:spcAft>
                <a:spcPct val="20000"/>
              </a:spcAft>
              <a:buClr>
                <a:srgbClr val="0000CC"/>
              </a:buClr>
              <a:buSzPct val="100000"/>
              <a:buFont typeface="Wingdings" pitchFamily="2" charset="2"/>
              <a:buChar char="l"/>
              <a:defRPr lang="en-GB" altLang="zh-CN" sz="22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marL="533400" indent="-168275" algn="l" defTabSz="1158875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0066"/>
              </a:buClr>
              <a:buSzPct val="100000"/>
              <a:buFont typeface="Wingdings" pitchFamily="2" charset="2"/>
              <a:buChar char="n"/>
              <a:defRPr sz="22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898525" indent="-182563" algn="l" defTabSz="1158875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SzPct val="100000"/>
              <a:buFont typeface="Wingdings" pitchFamily="2" charset="2"/>
              <a:buChar char="Ø"/>
              <a:defRPr sz="20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36713" indent="-228600" algn="l" defTabSz="1158875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57400" indent="-228600" algn="l" defTabSz="1158875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5pPr>
            <a:lvl6pPr marL="2514600" indent="-228600" algn="l" defTabSz="1158875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chemeClr val="tx1"/>
                </a:solidFill>
                <a:latin typeface="+mn-lt"/>
              </a:defRPr>
            </a:lvl6pPr>
            <a:lvl7pPr marL="2971800" indent="-228600" algn="l" defTabSz="1158875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chemeClr val="tx1"/>
                </a:solidFill>
                <a:latin typeface="+mn-lt"/>
              </a:defRPr>
            </a:lvl7pPr>
            <a:lvl8pPr marL="3429000" indent="-228600" algn="l" defTabSz="1158875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chemeClr val="tx1"/>
                </a:solidFill>
                <a:latin typeface="+mn-lt"/>
              </a:defRPr>
            </a:lvl8pPr>
            <a:lvl9pPr marL="3886200" indent="-228600" algn="l" defTabSz="1158875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b="1" i="1" dirty="0" err="1" smtClean="0"/>
              <a:t>var</a:t>
            </a:r>
            <a:r>
              <a:rPr lang="en-US" altLang="zh-CN" dirty="0" smtClean="0"/>
              <a:t> </a:t>
            </a:r>
            <a:r>
              <a:rPr lang="en-US" altLang="zh-CN" dirty="0"/>
              <a:t>is </a:t>
            </a:r>
            <a:r>
              <a:rPr lang="en-US" altLang="zh-CN" b="1" dirty="0"/>
              <a:t>function-scoped</a:t>
            </a:r>
            <a:r>
              <a:rPr lang="en-US" altLang="zh-CN" dirty="0"/>
              <a:t>, meaning it is accessible anywhere inside the function where it’s declared, regardless of block boundaries. </a:t>
            </a:r>
            <a:r>
              <a:rPr lang="en-US" altLang="zh-CN" b="1" i="1" dirty="0"/>
              <a:t>let</a:t>
            </a:r>
            <a:r>
              <a:rPr lang="en-US" altLang="zh-CN" dirty="0"/>
              <a:t> is </a:t>
            </a:r>
            <a:r>
              <a:rPr lang="en-US" altLang="zh-CN" b="1" dirty="0"/>
              <a:t>block-scoped</a:t>
            </a:r>
            <a:r>
              <a:rPr lang="en-US" altLang="zh-CN" dirty="0"/>
              <a:t>, meaning it is only accessible within the </a:t>
            </a:r>
            <a:r>
              <a:rPr lang="en-US" altLang="zh-CN" i="1" dirty="0"/>
              <a:t>{}</a:t>
            </a:r>
            <a:r>
              <a:rPr lang="en-US" altLang="zh-CN" dirty="0"/>
              <a:t> block where it’s declared, such as inside loops or conditionals.</a:t>
            </a:r>
          </a:p>
          <a:p>
            <a:pPr>
              <a:lnSpc>
                <a:spcPct val="100000"/>
              </a:lnSpc>
            </a:pP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760408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作用域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var</a:t>
            </a:r>
            <a:r>
              <a:rPr lang="en-US" altLang="zh-CN" dirty="0" smtClean="0"/>
              <a:t> let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50874" y="810817"/>
            <a:ext cx="8416926" cy="3792140"/>
          </a:xfrm>
        </p:spPr>
        <p:txBody>
          <a:bodyPr/>
          <a:lstStyle/>
          <a:p>
            <a:r>
              <a:rPr lang="en-US" altLang="zh-CN" sz="2000" dirty="0" smtClean="0"/>
              <a:t>function </a:t>
            </a:r>
            <a:r>
              <a:rPr lang="en-US" altLang="zh-CN" sz="2000" dirty="0" err="1"/>
              <a:t>demoVarLet</a:t>
            </a:r>
            <a:r>
              <a:rPr lang="en-US" altLang="zh-CN" sz="2000" dirty="0"/>
              <a:t>() {</a:t>
            </a:r>
          </a:p>
          <a:p>
            <a:pPr marL="350837" lvl="1" indent="0">
              <a:buNone/>
            </a:pPr>
            <a:r>
              <a:rPr lang="en-US" altLang="zh-CN" sz="2000" b="0" dirty="0"/>
              <a:t>if (true) {</a:t>
            </a:r>
          </a:p>
          <a:p>
            <a:pPr marL="350837" lvl="1" indent="0">
              <a:buNone/>
            </a:pPr>
            <a:r>
              <a:rPr lang="en-US" altLang="zh-CN" sz="2000" b="0" dirty="0" err="1"/>
              <a:t>var</a:t>
            </a:r>
            <a:r>
              <a:rPr lang="en-US" altLang="zh-CN" sz="2000" b="0" dirty="0"/>
              <a:t> a = 10; // function-scoped</a:t>
            </a:r>
          </a:p>
          <a:p>
            <a:pPr marL="350837" lvl="1" indent="0">
              <a:buNone/>
            </a:pPr>
            <a:r>
              <a:rPr lang="en-US" altLang="zh-CN" sz="2000" b="0" dirty="0"/>
              <a:t>let b = 20; // block-scoped</a:t>
            </a:r>
          </a:p>
          <a:p>
            <a:pPr marL="350837" lvl="1" indent="0">
              <a:buNone/>
            </a:pPr>
            <a:r>
              <a:rPr lang="en-US" altLang="zh-CN" sz="2000" b="0" dirty="0"/>
              <a:t>}</a:t>
            </a:r>
          </a:p>
          <a:p>
            <a:pPr marL="350837" lvl="1" indent="0">
              <a:buNone/>
            </a:pPr>
            <a:r>
              <a:rPr lang="en-US" altLang="zh-CN" sz="2000" b="0" dirty="0"/>
              <a:t>console.log(a); // </a:t>
            </a:r>
            <a:r>
              <a:rPr lang="zh-CN" altLang="en-US" sz="2000" b="0" dirty="0"/>
              <a:t>✅ </a:t>
            </a:r>
            <a:r>
              <a:rPr lang="en-US" altLang="zh-CN" sz="2000" b="0" dirty="0"/>
              <a:t>Works: 10</a:t>
            </a:r>
          </a:p>
          <a:p>
            <a:pPr marL="350837" lvl="1" indent="0">
              <a:buNone/>
            </a:pPr>
            <a:r>
              <a:rPr lang="en-US" altLang="zh-CN" sz="2000" b="0" dirty="0"/>
              <a:t>console.log(b); // </a:t>
            </a:r>
            <a:r>
              <a:rPr lang="zh-CN" altLang="en-US" sz="2000" b="0" dirty="0"/>
              <a:t>❌ </a:t>
            </a:r>
            <a:r>
              <a:rPr lang="en-US" altLang="zh-CN" sz="2000" b="0" dirty="0" err="1"/>
              <a:t>ReferenceError</a:t>
            </a:r>
            <a:endParaRPr lang="en-US" altLang="zh-CN" sz="2000" b="0" dirty="0"/>
          </a:p>
          <a:p>
            <a:pPr marL="350837" lvl="1" indent="0">
              <a:buNone/>
            </a:pPr>
            <a:r>
              <a:rPr lang="en-US" altLang="zh-CN" sz="2000" b="0" dirty="0"/>
              <a:t>}</a:t>
            </a:r>
          </a:p>
          <a:p>
            <a:pPr marL="350837" lvl="1" indent="0">
              <a:buNone/>
            </a:pPr>
            <a:r>
              <a:rPr lang="en-US" altLang="zh-CN" b="0" dirty="0" err="1"/>
              <a:t>demoVarLet</a:t>
            </a:r>
            <a:r>
              <a:rPr lang="en-US" altLang="zh-CN" b="0" dirty="0"/>
              <a:t>();</a:t>
            </a:r>
          </a:p>
          <a:p>
            <a:endParaRPr lang="zh-CN" altLang="en-US" dirty="0"/>
          </a:p>
        </p:txBody>
      </p:sp>
      <p:sp>
        <p:nvSpPr>
          <p:cNvPr id="5" name="文本占位符 2"/>
          <p:cNvSpPr txBox="1">
            <a:spLocks/>
          </p:cNvSpPr>
          <p:nvPr/>
        </p:nvSpPr>
        <p:spPr bwMode="auto">
          <a:xfrm>
            <a:off x="5041900" y="810817"/>
            <a:ext cx="4102100" cy="37921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defTabSz="1158875" rtl="0" eaLnBrk="0" fontAlgn="base" hangingPunct="0">
              <a:spcBef>
                <a:spcPct val="30000"/>
              </a:spcBef>
              <a:spcAft>
                <a:spcPct val="20000"/>
              </a:spcAft>
              <a:buClr>
                <a:srgbClr val="0000CC"/>
              </a:buClr>
              <a:buSzPct val="100000"/>
              <a:buFont typeface="Wingdings" pitchFamily="2" charset="2"/>
              <a:buChar char="l"/>
              <a:defRPr lang="en-GB" altLang="zh-CN" sz="22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marL="533400" indent="-168275" algn="l" defTabSz="1158875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0066"/>
              </a:buClr>
              <a:buSzPct val="100000"/>
              <a:buFont typeface="Wingdings" pitchFamily="2" charset="2"/>
              <a:buChar char="n"/>
              <a:defRPr sz="22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898525" indent="-182563" algn="l" defTabSz="1158875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SzPct val="100000"/>
              <a:buFont typeface="Wingdings" pitchFamily="2" charset="2"/>
              <a:buChar char="Ø"/>
              <a:defRPr sz="20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36713" indent="-228600" algn="l" defTabSz="1158875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57400" indent="-228600" algn="l" defTabSz="1158875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5pPr>
            <a:lvl6pPr marL="2514600" indent="-228600" algn="l" defTabSz="1158875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chemeClr val="tx1"/>
                </a:solidFill>
                <a:latin typeface="+mn-lt"/>
              </a:defRPr>
            </a:lvl6pPr>
            <a:lvl7pPr marL="2971800" indent="-228600" algn="l" defTabSz="1158875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chemeClr val="tx1"/>
                </a:solidFill>
                <a:latin typeface="+mn-lt"/>
              </a:defRPr>
            </a:lvl7pPr>
            <a:lvl8pPr marL="3429000" indent="-228600" algn="l" defTabSz="1158875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chemeClr val="tx1"/>
                </a:solidFill>
                <a:latin typeface="+mn-lt"/>
              </a:defRPr>
            </a:lvl8pPr>
            <a:lvl9pPr marL="3886200" indent="-228600" algn="l" defTabSz="1158875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000" kern="0" dirty="0" smtClean="0"/>
              <a:t>使用建议</a:t>
            </a:r>
            <a:r>
              <a:rPr lang="en-US" sz="2000" kern="0" dirty="0" smtClean="0"/>
              <a:t>.</a:t>
            </a:r>
          </a:p>
          <a:p>
            <a:r>
              <a:rPr lang="en-US" altLang="zh-CN" sz="2000" dirty="0"/>
              <a:t>Use </a:t>
            </a:r>
            <a:r>
              <a:rPr lang="en-US" altLang="zh-CN" sz="2000" b="1" i="1" dirty="0"/>
              <a:t>let</a:t>
            </a:r>
            <a:r>
              <a:rPr lang="en-US" altLang="zh-CN" sz="2000" dirty="0"/>
              <a:t> (or </a:t>
            </a:r>
            <a:r>
              <a:rPr lang="en-US" altLang="zh-CN" sz="2000" i="1" dirty="0" err="1"/>
              <a:t>const</a:t>
            </a:r>
            <a:r>
              <a:rPr lang="en-US" altLang="zh-CN" sz="2000" dirty="0"/>
              <a:t>) for predictable block scoping and to avoid accidental variable leaks.</a:t>
            </a:r>
          </a:p>
          <a:p>
            <a:r>
              <a:rPr lang="en-US" altLang="zh-CN" sz="2000" dirty="0"/>
              <a:t>Avoid </a:t>
            </a:r>
            <a:r>
              <a:rPr lang="en-US" altLang="zh-CN" sz="2000" b="1" i="1" dirty="0" err="1"/>
              <a:t>var</a:t>
            </a:r>
            <a:r>
              <a:rPr lang="en-US" altLang="zh-CN" sz="2000" dirty="0"/>
              <a:t> in modern JavaScript unless maintaining legacy code.</a:t>
            </a:r>
          </a:p>
          <a:p>
            <a:r>
              <a:rPr lang="en-US" altLang="zh-CN" sz="2000" dirty="0"/>
              <a:t>Always declare variables before use to prevent hoisting-related bugs.</a:t>
            </a:r>
          </a:p>
          <a:p>
            <a:pPr>
              <a:lnSpc>
                <a:spcPct val="100000"/>
              </a:lnSpc>
            </a:pPr>
            <a:endParaRPr lang="en-US" kern="0" dirty="0" smtClean="0"/>
          </a:p>
          <a:p>
            <a:pPr>
              <a:lnSpc>
                <a:spcPct val="100000"/>
              </a:lnSpc>
            </a:pP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241111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11A09-C3B4-25A1-B10F-B39BA497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Chain-</a:t>
            </a:r>
            <a:r>
              <a:rPr lang="zh-CN" altLang="en-US" dirty="0"/>
              <a:t>作用域链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34272B-33DE-CBCD-8043-CED8CDE71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83160"/>
            <a:ext cx="3238204" cy="42865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E0C00D-C6FD-2B3F-593B-B04DBDC97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746245"/>
            <a:ext cx="3288273" cy="436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74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6CAC7-83F0-0359-C81C-4628B1E3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</a:t>
            </a:r>
            <a:r>
              <a:rPr lang="en-US" dirty="0" smtClean="0"/>
              <a:t>Chain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E8A451-B18F-9088-3F8C-B1FF397D6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85509"/>
            <a:ext cx="3240869" cy="4284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F884EC-9DC1-7433-1A09-9C8E7CAEA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774522"/>
            <a:ext cx="3429000" cy="429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240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D5908-A1C0-149E-9D7C-3DF43808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</a:t>
            </a:r>
            <a:r>
              <a:rPr lang="en-US" dirty="0" smtClean="0"/>
              <a:t>Chain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B3B17A-2A19-DB33-7169-07ABA196F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35586"/>
            <a:ext cx="3228189" cy="42953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93BC6C-BD3D-6CC4-C71B-5545D450BF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8" r="4147"/>
          <a:stretch/>
        </p:blipFill>
        <p:spPr>
          <a:xfrm>
            <a:off x="4648200" y="835824"/>
            <a:ext cx="4419600" cy="321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996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闭包</a:t>
            </a:r>
            <a:r>
              <a:rPr lang="en-US" altLang="zh-CN" dirty="0" smtClean="0"/>
              <a:t>(Closure)</a:t>
            </a:r>
            <a:endParaRPr lang="zh-CN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92A1D6-3E7A-25DE-59A9-8E82EAC6F5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097" b="6608"/>
          <a:stretch/>
        </p:blipFill>
        <p:spPr>
          <a:xfrm>
            <a:off x="3246367" y="1047750"/>
            <a:ext cx="324660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859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Closure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EE2D09-FE6A-482F-2921-1C14155C6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836384"/>
            <a:ext cx="2832635" cy="37911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DC29C6-E47B-210E-2B51-209E67066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119" y="775154"/>
            <a:ext cx="2882365" cy="3879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65FC2E-EB6B-9CA0-8A41-7D5649197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088" y="738056"/>
            <a:ext cx="2971029" cy="391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219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19889-E568-16EB-EA71-A6781AA9C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85C5A3-7865-C97E-9F51-DF8C09AB3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42950"/>
            <a:ext cx="2994916" cy="39932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91A097-CF9C-58C4-7128-D1C9608740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379"/>
          <a:stretch/>
        </p:blipFill>
        <p:spPr>
          <a:xfrm>
            <a:off x="5791200" y="825331"/>
            <a:ext cx="3181068" cy="380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553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15.6  </a:t>
            </a:r>
            <a:r>
              <a:rPr lang="zh-CN" altLang="en-US" dirty="0"/>
              <a:t>综合实例</a:t>
            </a:r>
            <a:r>
              <a:rPr lang="en-US" altLang="zh-CN" dirty="0"/>
              <a:t>-</a:t>
            </a:r>
            <a:r>
              <a:rPr lang="zh-CN" altLang="en-US" dirty="0"/>
              <a:t>代码</a:t>
            </a:r>
          </a:p>
        </p:txBody>
      </p:sp>
      <p:sp>
        <p:nvSpPr>
          <p:cNvPr id="5" name="矩形 4"/>
          <p:cNvSpPr/>
          <p:nvPr/>
        </p:nvSpPr>
        <p:spPr>
          <a:xfrm>
            <a:off x="533400" y="842754"/>
            <a:ext cx="44958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2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</a:t>
            </a:r>
            <a:r>
              <a:rPr lang="en-US" altLang="zh-CN" sz="14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checkright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=false;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}else     //</a:t>
            </a:r>
            <a:r>
              <a:rPr lang="zh-CN" altLang="en-US" sz="1400" b="0" dirty="0">
                <a:latin typeface="Verdana" pitchFamily="34" charset="0"/>
                <a:cs typeface="Verdana" pitchFamily="34" charset="0"/>
              </a:rPr>
              <a:t>不为空，再判断用户名和密码的长度</a:t>
            </a:r>
            <a:r>
              <a:rPr lang="zh-CN" altLang="en-US" sz="1400" dirty="0">
                <a:latin typeface="Verdana" pitchFamily="34" charset="0"/>
                <a:cs typeface="Verdana" pitchFamily="34" charset="0"/>
              </a:rPr>
              <a:t>合法</a:t>
            </a:r>
            <a:r>
              <a:rPr lang="zh-CN" altLang="en-US" sz="1400" b="0" dirty="0">
                <a:latin typeface="Verdana" pitchFamily="34" charset="0"/>
                <a:cs typeface="Verdana" pitchFamily="34" charset="0"/>
              </a:rPr>
              <a:t>性</a:t>
            </a:r>
            <a:endParaRPr lang="en-US" altLang="zh-CN" sz="14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{ 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 if(</a:t>
            </a:r>
            <a:r>
              <a:rPr lang="en-US" altLang="zh-CN" sz="14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username.length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&lt;6) {    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    alert("</a:t>
            </a:r>
            <a:r>
              <a:rPr lang="zh-CN" altLang="en-US" sz="1400" b="0" dirty="0">
                <a:latin typeface="Verdana" pitchFamily="34" charset="0"/>
                <a:cs typeface="Verdana" pitchFamily="34" charset="0"/>
              </a:rPr>
              <a:t>用户名长度太短，至少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6</a:t>
            </a:r>
            <a:r>
              <a:rPr lang="zh-CN" altLang="en-US" sz="1400" b="0" dirty="0">
                <a:latin typeface="Verdana" pitchFamily="34" charset="0"/>
                <a:cs typeface="Verdana" pitchFamily="34" charset="0"/>
              </a:rPr>
              <a:t>个字符！！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");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    </a:t>
            </a:r>
            <a:r>
              <a:rPr lang="en-US" altLang="zh-CN" sz="14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checkright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=false;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 } else if(</a:t>
            </a:r>
            <a:r>
              <a:rPr lang="en-US" altLang="zh-CN" sz="14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pwd.length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&lt;6) {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   alert("</a:t>
            </a:r>
            <a:r>
              <a:rPr lang="zh-CN" altLang="en-US" sz="1400" b="0" dirty="0">
                <a:latin typeface="Verdana" pitchFamily="34" charset="0"/>
                <a:cs typeface="Verdana" pitchFamily="34" charset="0"/>
              </a:rPr>
              <a:t>密码长度太短，至少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6</a:t>
            </a:r>
            <a:r>
              <a:rPr lang="zh-CN" altLang="en-US" sz="1400" b="0" dirty="0">
                <a:latin typeface="Verdana" pitchFamily="34" charset="0"/>
                <a:cs typeface="Verdana" pitchFamily="34" charset="0"/>
              </a:rPr>
              <a:t>个字符！！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");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    </a:t>
            </a:r>
            <a:r>
              <a:rPr lang="en-US" altLang="zh-CN" sz="14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checkright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=false;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 } else if(</a:t>
            </a:r>
            <a:r>
              <a:rPr lang="en-US" altLang="zh-CN" sz="14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pwd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!=</a:t>
            </a:r>
            <a:r>
              <a:rPr lang="en-US" altLang="zh-CN" sz="14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pwdConfirm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) {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    alert("</a:t>
            </a:r>
            <a:r>
              <a:rPr lang="zh-CN" altLang="en-US" sz="1400" b="0" dirty="0">
                <a:latin typeface="Verdana" pitchFamily="34" charset="0"/>
                <a:cs typeface="Verdana" pitchFamily="34" charset="0"/>
              </a:rPr>
              <a:t>两次输入的密码必须一致！！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");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   </a:t>
            </a:r>
            <a:r>
              <a:rPr lang="en-US" altLang="zh-CN" sz="14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checkright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=false;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 } else{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     </a:t>
            </a:r>
            <a:r>
              <a:rPr lang="en-US" altLang="zh-CN" sz="14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checkright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=true;}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 }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 return </a:t>
            </a:r>
            <a:r>
              <a:rPr lang="en-US" altLang="zh-CN" sz="14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checkright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5334000" y="819150"/>
            <a:ext cx="3733800" cy="2426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function </a:t>
            </a:r>
            <a:r>
              <a:rPr lang="en-US" altLang="zh-CN" sz="14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clearInfo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()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{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</a:t>
            </a:r>
            <a:r>
              <a:rPr lang="en-US" altLang="zh-CN" sz="14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flag = confirm("</a:t>
            </a:r>
            <a:r>
              <a:rPr lang="zh-CN" altLang="en-US" sz="1400" b="0" dirty="0">
                <a:latin typeface="Verdana" pitchFamily="34" charset="0"/>
                <a:cs typeface="Verdana" pitchFamily="34" charset="0"/>
              </a:rPr>
              <a:t>确认要重置数据吗？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");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if(flag==true)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{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 $("</a:t>
            </a:r>
            <a:r>
              <a:rPr lang="en-US" altLang="zh-CN" sz="14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myname</a:t>
            </a: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").value = "";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 $("mypwd1").value = "";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 $("mypwd2").value = "";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  }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}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&lt;/script&gt;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&lt;/head&gt;</a:t>
            </a:r>
            <a:endParaRPr lang="zh-CN" altLang="en-US" sz="1400" b="0" dirty="0">
              <a:latin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019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5000" y="171451"/>
            <a:ext cx="55626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63550">
              <a:spcBef>
                <a:spcPct val="0"/>
              </a:spcBef>
            </a:pPr>
            <a:r>
              <a:rPr lang="zh-CN" altLang="en-US" sz="3200" dirty="0">
                <a:solidFill>
                  <a:srgbClr val="000066"/>
                </a:solidFill>
                <a:latin typeface="+mj-lt"/>
                <a:ea typeface="+mj-ea"/>
                <a:cs typeface="+mj-cs"/>
              </a:rPr>
              <a:t>练习与实验</a:t>
            </a:r>
            <a:r>
              <a:rPr lang="en-US" altLang="zh-CN" sz="3200" dirty="0">
                <a:solidFill>
                  <a:srgbClr val="000066"/>
                </a:solidFill>
                <a:latin typeface="+mj-lt"/>
                <a:ea typeface="+mj-ea"/>
                <a:cs typeface="+mj-cs"/>
              </a:rPr>
              <a:t>15</a:t>
            </a:r>
            <a:endParaRPr lang="zh-CN" altLang="en-US" sz="3200" dirty="0">
              <a:solidFill>
                <a:srgbClr val="00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1085850"/>
            <a:ext cx="716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作业：</a:t>
            </a:r>
            <a:endParaRPr lang="en-US" altLang="zh-CN" dirty="0"/>
          </a:p>
          <a:p>
            <a:r>
              <a:rPr lang="zh-CN" altLang="en-US" dirty="0"/>
              <a:t>完成本章练习与实验</a:t>
            </a:r>
          </a:p>
        </p:txBody>
      </p:sp>
    </p:spTree>
    <p:extLst>
      <p:ext uri="{BB962C8B-B14F-4D97-AF65-F5344CB8AC3E}">
        <p14:creationId xmlns:p14="http://schemas.microsoft.com/office/powerpoint/2010/main" val="2202030213"/>
      </p:ext>
    </p:extLst>
  </p:cSld>
  <p:clrMapOvr>
    <a:masterClrMapping/>
  </p:clrMapOvr>
</p:sld>
</file>

<file path=ppt/theme/theme1.xml><?xml version="1.0" encoding="utf-8"?>
<a:theme xmlns:a="http://schemas.openxmlformats.org/drawingml/2006/main" name="6_CS3510">
  <a:themeElements>
    <a:clrScheme name="1_CS3510 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1_CS3510">
      <a:majorFont>
        <a:latin typeface="黑体"/>
        <a:ea typeface="黑体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000080">
                <a:gamma/>
                <a:shade val="46275"/>
                <a:invGamma/>
              </a:srgbClr>
            </a:gs>
            <a:gs pos="100000">
              <a:srgbClr val="000080"/>
            </a:gs>
          </a:gsLst>
          <a:lin ang="5400000" scaled="1"/>
        </a:gradFill>
        <a:ln w="25400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rgbClr val="000000">
              <a:alpha val="50000"/>
            </a:srgbClr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784225" marR="0" indent="-419100" algn="l" defTabSz="1158875" rtl="0" eaLnBrk="0" fontAlgn="base" latinLnBrk="0" hangingPunct="0">
          <a:lnSpc>
            <a:spcPct val="90000"/>
          </a:lnSpc>
          <a:spcBef>
            <a:spcPct val="20000"/>
          </a:spcBef>
          <a:spcAft>
            <a:spcPct val="0"/>
          </a:spcAft>
          <a:buClr>
            <a:srgbClr val="660066"/>
          </a:buClr>
          <a:buSzPct val="100000"/>
          <a:buFont typeface="Wingdings" pitchFamily="2" charset="2"/>
          <a:buNone/>
          <a:tabLst/>
          <a:defRPr kumimoji="0" lang="zh-CN" alt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itchFamily="49" charset="-122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000080">
                <a:gamma/>
                <a:shade val="46275"/>
                <a:invGamma/>
              </a:srgbClr>
            </a:gs>
            <a:gs pos="100000">
              <a:srgbClr val="000080"/>
            </a:gs>
          </a:gsLst>
          <a:lin ang="5400000" scaled="1"/>
        </a:gradFill>
        <a:ln w="25400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rgbClr val="000000">
              <a:alpha val="50000"/>
            </a:srgbClr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784225" marR="0" indent="-419100" algn="l" defTabSz="1158875" rtl="0" eaLnBrk="0" fontAlgn="base" latinLnBrk="0" hangingPunct="0">
          <a:lnSpc>
            <a:spcPct val="90000"/>
          </a:lnSpc>
          <a:spcBef>
            <a:spcPct val="20000"/>
          </a:spcBef>
          <a:spcAft>
            <a:spcPct val="0"/>
          </a:spcAft>
          <a:buClr>
            <a:srgbClr val="660066"/>
          </a:buClr>
          <a:buSzPct val="100000"/>
          <a:buFont typeface="Wingdings" pitchFamily="2" charset="2"/>
          <a:buNone/>
          <a:tabLst/>
          <a:defRPr kumimoji="0" lang="zh-CN" alt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itchFamily="49" charset="-122"/>
            <a:ea typeface="黑体" pitchFamily="49" charset="-122"/>
          </a:defRPr>
        </a:defPPr>
      </a:lstStyle>
    </a:lnDef>
  </a:objectDefaults>
  <a:extraClrSchemeLst>
    <a:extraClrScheme>
      <a:clrScheme name="1_CS3510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3510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3510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3510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3510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3510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3510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2777</TotalTime>
  <Words>378</Words>
  <Application>Microsoft Office PowerPoint</Application>
  <PresentationFormat>全屏显示(16:9)</PresentationFormat>
  <Paragraphs>65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黑体</vt:lpstr>
      <vt:lpstr>宋体</vt:lpstr>
      <vt:lpstr>微软雅黑</vt:lpstr>
      <vt:lpstr>Arial</vt:lpstr>
      <vt:lpstr>Verdana</vt:lpstr>
      <vt:lpstr>Wingdings</vt:lpstr>
      <vt:lpstr>6_CS3510</vt:lpstr>
      <vt:lpstr>第15章 JavaScript eXtension</vt:lpstr>
      <vt:lpstr>本章学习目标</vt:lpstr>
      <vt:lpstr>Callback-回调函数</vt:lpstr>
      <vt:lpstr>Callback 嵌套与地狱</vt:lpstr>
      <vt:lpstr>Callback – Promise规范</vt:lpstr>
      <vt:lpstr>作用域 var let</vt:lpstr>
      <vt:lpstr>作用域 var let</vt:lpstr>
      <vt:lpstr>Scope Chain-作用域链</vt:lpstr>
      <vt:lpstr>Scope Chain</vt:lpstr>
      <vt:lpstr>Scope Chain</vt:lpstr>
      <vt:lpstr>闭包(Closure)</vt:lpstr>
      <vt:lpstr>Closure</vt:lpstr>
      <vt:lpstr>Closure</vt:lpstr>
      <vt:lpstr>15.6  综合实例-代码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China</cp:lastModifiedBy>
  <cp:revision>564</cp:revision>
  <cp:lastPrinted>1601-01-01T00:00:00Z</cp:lastPrinted>
  <dcterms:created xsi:type="dcterms:W3CDTF">1601-01-01T00:00:00Z</dcterms:created>
  <dcterms:modified xsi:type="dcterms:W3CDTF">2026-04-08T12:57:56Z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